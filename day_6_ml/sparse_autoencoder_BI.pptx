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66760" y="502920"/>
            <a:ext cx="3108960" cy="228600"/>
          </a:xfrm>
          <a:prstGeom prst="rect">
            <a:avLst/>
          </a:prstGeom>
          <a:solidFill>
            <a:srgbClr val="143A5A"/>
          </a:solidFill>
          <a:ln w="12700">
            <a:solidFill>
              <a:srgbClr val="143A5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868680"/>
            <a:ext cx="2286000" cy="228600"/>
          </a:xfrm>
          <a:prstGeom prst="rect">
            <a:avLst/>
          </a:prstGeom>
          <a:solidFill>
            <a:srgbClr val="1A4D75"/>
          </a:solidFill>
          <a:ln w="12700">
            <a:solidFill>
              <a:srgbClr val="1A4D7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9844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Sparse Autoencoder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8EA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Online Shopping Behaviour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49808" y="2505456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BI-ready data story from hidden behaviour features to customer segments and commercial actions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409651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12,330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14400" y="4727448"/>
            <a:ext cx="177393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sessions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035808" y="409651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15.47%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200400" y="4727448"/>
            <a:ext cx="177393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 purchased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321808" y="4096512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4224528"/>
            <a:ext cx="1773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5486400" y="4727448"/>
            <a:ext cx="1773936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behaviour segments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49808" y="61081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A9B9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sparse autoencoder notebook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bottleneck features turn raw web sessions into actionable behaviour segments.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2103120" cy="237744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585216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sparse autoencoder did not beat the normal model on reconstruction accuracy, but it created useful hidden features that revealed different purchase behaviours.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629400" y="13258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93992" y="145389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32.26%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793992" y="1956816"/>
            <a:ext cx="1956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 purchase rate - strong practical opportunity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9189720" y="132588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54312" y="145389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47.17%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354312" y="1956816"/>
            <a:ext cx="1956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4 purchase rate - rare high-value behaviour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629400" y="26060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2734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0.0349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793992" y="3236976"/>
            <a:ext cx="1956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AE average test error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189720" y="260604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54312" y="2734056"/>
            <a:ext cx="1956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1.7627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354312" y="3236976"/>
            <a:ext cx="19568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AE average bottleneck activation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685800" y="2971800"/>
            <a:ext cx="571500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 is the most actionable group: high purchase rate plus useful volume.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4 is a small, unusual, high-converting group worth deeper investigation.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3 represents the largest common browsing pattern, but converts below Segment 2.</a:t>
            </a:r>
            <a:endParaRPr lang="en-US" sz="1220" dirty="0"/>
          </a:p>
          <a:p>
            <a:r>
              <a:rPr lang="en-US" sz="122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 looks like low-intent behaviour with very weak purchase performance.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629400" y="4160520"/>
            <a:ext cx="4846320" cy="1005840"/>
          </a:xfrm>
          <a:prstGeom prst="roundRect">
            <a:avLst>
              <a:gd name="adj" fmla="val 7273"/>
            </a:avLst>
          </a:prstGeom>
          <a:solidFill>
            <a:srgbClr val="EAF5EF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3992" y="4270248"/>
            <a:ext cx="451713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takeaway: use Segment 2 for campaign prioritisation; investigate Segment 4 as a rare high-value pattern before scaling decisions.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landscape: most sessions do not convert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purchase imbalance is expected in e-commerce and becomes important for interpretation.</a:t>
            </a:r>
            <a:endParaRPr lang="en-US" sz="980" dirty="0"/>
          </a:p>
        </p:txBody>
      </p:sp>
      <p:pic>
        <p:nvPicPr>
          <p:cNvPr id="5" name="Image 0" descr="/mnt/data/sparse_charts/cell_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717071"/>
            <a:ext cx="6583680" cy="326841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52360" y="13258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16952" y="1453896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84.53%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7616952" y="1956816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purchase sessions</a:t>
            </a:r>
            <a:endParaRPr lang="en-US" sz="870" dirty="0"/>
          </a:p>
        </p:txBody>
      </p:sp>
      <p:sp>
        <p:nvSpPr>
          <p:cNvPr id="9" name="Shape 6"/>
          <p:cNvSpPr/>
          <p:nvPr/>
        </p:nvSpPr>
        <p:spPr>
          <a:xfrm>
            <a:off x="9372600" y="132588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37192" y="1453896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15.47%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9537192" y="1956816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sessions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7452360" y="25603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16952" y="2688336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7616952" y="3191256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original columns</a:t>
            </a:r>
            <a:endParaRPr lang="en-US" sz="870" dirty="0"/>
          </a:p>
        </p:txBody>
      </p:sp>
      <p:sp>
        <p:nvSpPr>
          <p:cNvPr id="15" name="Shape 12"/>
          <p:cNvSpPr/>
          <p:nvPr/>
        </p:nvSpPr>
        <p:spPr>
          <a:xfrm>
            <a:off x="9372600" y="256032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7FAFC"/>
          </a:solidFill>
          <a:ln w="12700">
            <a:solidFill>
              <a:srgbClr val="DEE6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37192" y="2688336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28E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537192" y="3191256"/>
            <a:ext cx="1362456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processed model inputs</a:t>
            </a:r>
            <a:endParaRPr lang="en-US" sz="870" dirty="0"/>
          </a:p>
        </p:txBody>
      </p:sp>
      <p:sp>
        <p:nvSpPr>
          <p:cNvPr id="18" name="Shape 15"/>
          <p:cNvSpPr/>
          <p:nvPr/>
        </p:nvSpPr>
        <p:spPr>
          <a:xfrm>
            <a:off x="7452360" y="388620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16952" y="3995928"/>
            <a:ext cx="3328416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was used for interpretation only. The autoencoder learned by reconstructing session behaviour features, not by predicting purchase directly.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Method: compress behaviour, then explain segments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sparse autoencoder acts as a feature-learning layer for marketing analysis.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521208" y="1024128"/>
            <a:ext cx="2103120" cy="237744"/>
          </a:xfrm>
          <a:prstGeom prst="rect">
            <a:avLst/>
          </a:prstGeom>
          <a:solidFill>
            <a:srgbClr val="1F4E79"/>
          </a:solidFill>
          <a:ln/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0160">
            <a:solidFill>
              <a:srgbClr val="CCD7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099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9476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sessions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58368" y="2212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12,330 online shopping sessions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487168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0160">
            <a:solidFill>
              <a:srgbClr val="CCD7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96896" y="17099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96896" y="19476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Preprocess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596896" y="2212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 numeric features and encode categories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425696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4F7FA"/>
          </a:solidFill>
          <a:ln w="10160">
            <a:solidFill>
              <a:srgbClr val="CCD7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35424" y="17099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35424" y="19476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models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535424" y="2212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AE vs Sparse AE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6364224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EAF5EF"/>
          </a:solidFill>
          <a:ln w="10160">
            <a:solidFill>
              <a:srgbClr val="CCD7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17099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19476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bottleneck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473952" y="2212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hidden behaviour values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8302752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FF4E7"/>
          </a:solidFill>
          <a:ln w="10160">
            <a:solidFill>
              <a:srgbClr val="CCD7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0" y="17099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0" y="19476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8412480" y="2212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hidden behaviour segments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0241280" y="1600200"/>
            <a:ext cx="1737360" cy="960120"/>
          </a:xfrm>
          <a:prstGeom prst="roundRect">
            <a:avLst>
              <a:gd name="adj" fmla="val 5714"/>
            </a:avLst>
          </a:prstGeom>
          <a:solidFill>
            <a:srgbClr val="FFF4E7"/>
          </a:solidFill>
          <a:ln w="10160">
            <a:solidFill>
              <a:srgbClr val="CCD7E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351008" y="170992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51008" y="194767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0351008" y="2212848"/>
            <a:ext cx="1517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rate, volume, error and actions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768096" y="3063240"/>
            <a:ext cx="10424160" cy="0"/>
          </a:xfrm>
          <a:prstGeom prst="line">
            <a:avLst/>
          </a:prstGeom>
          <a:noFill/>
          <a:ln w="25400">
            <a:solidFill>
              <a:srgbClr val="BCD0E3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21792" y="3657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Sparse autoencoder idea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21792" y="4041648"/>
            <a:ext cx="484632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normal autoencoder reconstructs data freely. A sparse autoencoder adds a small penalty to keep bottleneck activity lower, creating simpler hidden features.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035040" y="3822192"/>
            <a:ext cx="5394960" cy="987552"/>
          </a:xfrm>
          <a:prstGeom prst="roundRect">
            <a:avLst>
              <a:gd name="adj" fmla="val 7407"/>
            </a:avLst>
          </a:prstGeom>
          <a:solidFill>
            <a:srgbClr val="EAF5EF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3931920"/>
            <a:ext cx="5065776" cy="7863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question: Can a sparse autoencoder create compact behaviour features that support segmentation, purchase analysis and anomaly-style investigation?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trade-off: accuracy vs compactness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AE reconstructs better; Sparse AE creates quieter hidden features.</a:t>
            </a:r>
            <a:endParaRPr lang="en-US" sz="980" dirty="0"/>
          </a:p>
        </p:txBody>
      </p:sp>
      <p:pic>
        <p:nvPicPr>
          <p:cNvPr id="5" name="Image 0" descr="/mnt/data/sparse_charts/cell_4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875003"/>
            <a:ext cx="5577840" cy="2742233"/>
          </a:xfrm>
          <a:prstGeom prst="rect">
            <a:avLst/>
          </a:prstGeom>
        </p:spPr>
      </p:pic>
      <p:pic>
        <p:nvPicPr>
          <p:cNvPr id="6" name="Image 1" descr="/mnt/data/sparse_charts/cell_43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955084"/>
            <a:ext cx="5349240" cy="258207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960120" y="5696712"/>
            <a:ext cx="10332720" cy="548640"/>
          </a:xfrm>
          <a:prstGeom prst="roundRect">
            <a:avLst>
              <a:gd name="adj" fmla="val 13333"/>
            </a:avLst>
          </a:prstGeom>
          <a:solidFill>
            <a:srgbClr val="EAF1F8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24712" y="5806440"/>
            <a:ext cx="10003536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the sparse model sacrifices some reconstruction accuracy but reduces average bottleneck activation from 2.49 to 1.76.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Hidden behaviour space: four segments emerge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KMeans grouped sessions using the sparse bottleneck features, not using Revenue.</a:t>
            </a:r>
            <a:endParaRPr lang="en-US" sz="980" dirty="0"/>
          </a:p>
        </p:txBody>
      </p:sp>
      <p:pic>
        <p:nvPicPr>
          <p:cNvPr id="5" name="Image 0" descr="/mnt/data/sparse_charts/cell_63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84967"/>
            <a:ext cx="7315200" cy="460810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75320" y="1298448"/>
            <a:ext cx="643707" cy="429768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344168"/>
            <a:ext cx="5522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8919027" y="1298448"/>
            <a:ext cx="717273" cy="429768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64747" y="1344168"/>
            <a:ext cx="625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9636299" y="1298448"/>
            <a:ext cx="1885141" cy="429768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82019" y="1344168"/>
            <a:ext cx="179370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8275320" y="1728216"/>
            <a:ext cx="643707" cy="42976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21040" y="1773936"/>
            <a:ext cx="5522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8919027" y="1728216"/>
            <a:ext cx="717273" cy="42976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64747" y="1773936"/>
            <a:ext cx="625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9636299" y="1728216"/>
            <a:ext cx="1885141" cy="42976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82019" y="1773936"/>
            <a:ext cx="179370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low-intent / weak purchase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8275320" y="2157984"/>
            <a:ext cx="643707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21040" y="2203704"/>
            <a:ext cx="5522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8919027" y="2157984"/>
            <a:ext cx="71727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4747" y="2203704"/>
            <a:ext cx="625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403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9636299" y="2157984"/>
            <a:ext cx="188514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82019" y="2203704"/>
            <a:ext cx="179370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opportunity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8275320" y="2587752"/>
            <a:ext cx="643707" cy="42976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21040" y="2633472"/>
            <a:ext cx="5522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8919027" y="2587752"/>
            <a:ext cx="717273" cy="42976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964747" y="2633472"/>
            <a:ext cx="625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1,040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9636299" y="2587752"/>
            <a:ext cx="1885141" cy="42976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82019" y="2633472"/>
            <a:ext cx="179370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browsing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8275320" y="3017520"/>
            <a:ext cx="643707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21040" y="3063240"/>
            <a:ext cx="552267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8919027" y="3017520"/>
            <a:ext cx="717273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4747" y="3063240"/>
            <a:ext cx="62583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9636299" y="3017520"/>
            <a:ext cx="188514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82019" y="3063240"/>
            <a:ext cx="179370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high-value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8275320" y="3794760"/>
            <a:ext cx="3246120" cy="1097280"/>
          </a:xfrm>
          <a:prstGeom prst="roundRect">
            <a:avLst>
              <a:gd name="adj" fmla="val 6667"/>
            </a:avLst>
          </a:prstGeom>
          <a:solidFill>
            <a:srgbClr val="FFF4E7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439912" y="3904488"/>
            <a:ext cx="2916936" cy="8961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3 is the largest common behaviour group; Segment 4 is tiny and visually separated, suggesting unusual behaviour.</a:t>
            </a:r>
            <a:endParaRPr lang="en-US" sz="1150" dirty="0"/>
          </a:p>
        </p:txBody>
      </p:sp>
      <p:sp>
        <p:nvSpPr>
          <p:cNvPr id="38" name="Text 35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impact: purchase rate differs sharply by segment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hidden segments are commercially meaningful, not just technical clusters.</a:t>
            </a:r>
            <a:endParaRPr lang="en-US" sz="980" dirty="0"/>
          </a:p>
        </p:txBody>
      </p:sp>
      <p:pic>
        <p:nvPicPr>
          <p:cNvPr id="5" name="Image 0" descr="/mnt/data/sparse_charts/cell_6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38231"/>
            <a:ext cx="6720840" cy="38546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35240" y="1298448"/>
            <a:ext cx="788504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80960" y="1344168"/>
            <a:ext cx="697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8423744" y="1298448"/>
            <a:ext cx="957470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69464" y="1344168"/>
            <a:ext cx="866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Sessions</a:t>
            </a:r>
            <a:endParaRPr lang="en-US" sz="870" dirty="0"/>
          </a:p>
        </p:txBody>
      </p:sp>
      <p:sp>
        <p:nvSpPr>
          <p:cNvPr id="10" name="Shape 7"/>
          <p:cNvSpPr/>
          <p:nvPr/>
        </p:nvSpPr>
        <p:spPr>
          <a:xfrm>
            <a:off x="9381214" y="1298448"/>
            <a:ext cx="1295400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426934" y="1344168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rate</a:t>
            </a:r>
            <a:endParaRPr lang="en-US" sz="870" dirty="0"/>
          </a:p>
        </p:txBody>
      </p:sp>
      <p:sp>
        <p:nvSpPr>
          <p:cNvPr id="12" name="Shape 9"/>
          <p:cNvSpPr/>
          <p:nvPr/>
        </p:nvSpPr>
        <p:spPr>
          <a:xfrm>
            <a:off x="10676614" y="1298448"/>
            <a:ext cx="844826" cy="502920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22334" y="1344168"/>
            <a:ext cx="7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70" dirty="0"/>
          </a:p>
        </p:txBody>
      </p:sp>
      <p:sp>
        <p:nvSpPr>
          <p:cNvPr id="14" name="Shape 11"/>
          <p:cNvSpPr/>
          <p:nvPr/>
        </p:nvSpPr>
        <p:spPr>
          <a:xfrm>
            <a:off x="7635240" y="1801368"/>
            <a:ext cx="788504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1847088"/>
            <a:ext cx="697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8423744" y="1801368"/>
            <a:ext cx="95747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69464" y="1847088"/>
            <a:ext cx="866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354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9381214" y="1801368"/>
            <a:ext cx="12954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426934" y="1847088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1.70%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10676614" y="1801368"/>
            <a:ext cx="844826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722334" y="1847088"/>
            <a:ext cx="7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0.028</a:t>
            </a:r>
            <a:endParaRPr lang="en-US" sz="830" dirty="0"/>
          </a:p>
        </p:txBody>
      </p:sp>
      <p:sp>
        <p:nvSpPr>
          <p:cNvPr id="22" name="Shape 19"/>
          <p:cNvSpPr/>
          <p:nvPr/>
        </p:nvSpPr>
        <p:spPr>
          <a:xfrm>
            <a:off x="7635240" y="2304288"/>
            <a:ext cx="788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0" y="2350008"/>
            <a:ext cx="697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30" dirty="0"/>
          </a:p>
        </p:txBody>
      </p:sp>
      <p:sp>
        <p:nvSpPr>
          <p:cNvPr id="24" name="Shape 21"/>
          <p:cNvSpPr/>
          <p:nvPr/>
        </p:nvSpPr>
        <p:spPr>
          <a:xfrm>
            <a:off x="8423744" y="2304288"/>
            <a:ext cx="95747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469464" y="2350008"/>
            <a:ext cx="866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403</a:t>
            </a:r>
            <a:endParaRPr lang="en-US" sz="830" dirty="0"/>
          </a:p>
        </p:txBody>
      </p:sp>
      <p:sp>
        <p:nvSpPr>
          <p:cNvPr id="26" name="Shape 23"/>
          <p:cNvSpPr/>
          <p:nvPr/>
        </p:nvSpPr>
        <p:spPr>
          <a:xfrm>
            <a:off x="9381214" y="2304288"/>
            <a:ext cx="1295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426934" y="2350008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32.26%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10676614" y="2304288"/>
            <a:ext cx="84482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22334" y="2350008"/>
            <a:ext cx="7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0.057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7635240" y="2807208"/>
            <a:ext cx="788504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80960" y="2852928"/>
            <a:ext cx="697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30" dirty="0"/>
          </a:p>
        </p:txBody>
      </p:sp>
      <p:sp>
        <p:nvSpPr>
          <p:cNvPr id="32" name="Shape 29"/>
          <p:cNvSpPr/>
          <p:nvPr/>
        </p:nvSpPr>
        <p:spPr>
          <a:xfrm>
            <a:off x="8423744" y="2807208"/>
            <a:ext cx="95747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69464" y="2852928"/>
            <a:ext cx="866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1,040</a:t>
            </a:r>
            <a:endParaRPr lang="en-US" sz="830" dirty="0"/>
          </a:p>
        </p:txBody>
      </p:sp>
      <p:sp>
        <p:nvSpPr>
          <p:cNvPr id="34" name="Shape 31"/>
          <p:cNvSpPr/>
          <p:nvPr/>
        </p:nvSpPr>
        <p:spPr>
          <a:xfrm>
            <a:off x="9381214" y="2807208"/>
            <a:ext cx="1295400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426934" y="2852928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12.02%</a:t>
            </a:r>
            <a:endParaRPr lang="en-US" sz="830" dirty="0"/>
          </a:p>
        </p:txBody>
      </p:sp>
      <p:sp>
        <p:nvSpPr>
          <p:cNvPr id="36" name="Shape 33"/>
          <p:cNvSpPr/>
          <p:nvPr/>
        </p:nvSpPr>
        <p:spPr>
          <a:xfrm>
            <a:off x="10676614" y="2807208"/>
            <a:ext cx="844826" cy="50292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0722334" y="2852928"/>
            <a:ext cx="7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0.039</a:t>
            </a:r>
            <a:endParaRPr lang="en-US" sz="830" dirty="0"/>
          </a:p>
        </p:txBody>
      </p:sp>
      <p:sp>
        <p:nvSpPr>
          <p:cNvPr id="38" name="Shape 35"/>
          <p:cNvSpPr/>
          <p:nvPr/>
        </p:nvSpPr>
        <p:spPr>
          <a:xfrm>
            <a:off x="7635240" y="3310128"/>
            <a:ext cx="788504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680960" y="3355848"/>
            <a:ext cx="697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30" dirty="0"/>
          </a:p>
        </p:txBody>
      </p:sp>
      <p:sp>
        <p:nvSpPr>
          <p:cNvPr id="40" name="Shape 37"/>
          <p:cNvSpPr/>
          <p:nvPr/>
        </p:nvSpPr>
        <p:spPr>
          <a:xfrm>
            <a:off x="8423744" y="3310128"/>
            <a:ext cx="95747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69464" y="3355848"/>
            <a:ext cx="86603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</a:t>
            </a:r>
            <a:endParaRPr lang="en-US" sz="830" dirty="0"/>
          </a:p>
        </p:txBody>
      </p:sp>
      <p:sp>
        <p:nvSpPr>
          <p:cNvPr id="42" name="Shape 39"/>
          <p:cNvSpPr/>
          <p:nvPr/>
        </p:nvSpPr>
        <p:spPr>
          <a:xfrm>
            <a:off x="9381214" y="3310128"/>
            <a:ext cx="1295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26934" y="3355848"/>
            <a:ext cx="1203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47.17%</a:t>
            </a:r>
            <a:endParaRPr lang="en-US" sz="830" dirty="0"/>
          </a:p>
        </p:txBody>
      </p:sp>
      <p:sp>
        <p:nvSpPr>
          <p:cNvPr id="44" name="Shape 41"/>
          <p:cNvSpPr/>
          <p:nvPr/>
        </p:nvSpPr>
        <p:spPr>
          <a:xfrm>
            <a:off x="10676614" y="3310128"/>
            <a:ext cx="844826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722334" y="3355848"/>
            <a:ext cx="75338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0.133</a:t>
            </a:r>
            <a:endParaRPr lang="en-US" sz="830" dirty="0"/>
          </a:p>
        </p:txBody>
      </p:sp>
      <p:sp>
        <p:nvSpPr>
          <p:cNvPr id="46" name="Shape 43"/>
          <p:cNvSpPr/>
          <p:nvPr/>
        </p:nvSpPr>
        <p:spPr>
          <a:xfrm>
            <a:off x="7635240" y="4251960"/>
            <a:ext cx="3886200" cy="1005840"/>
          </a:xfrm>
          <a:prstGeom prst="roundRect">
            <a:avLst>
              <a:gd name="adj" fmla="val 7273"/>
            </a:avLst>
          </a:prstGeom>
          <a:solidFill>
            <a:srgbClr val="EAF5EF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799832" y="4361688"/>
            <a:ext cx="355701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 is the strongest practical segment: high purchase rate with meaningful session volume. Segment 4 converts highest, but is too small to scale blindly.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Opportunity matrix: value vs unusual behaviour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rate shows business value; reconstruction error signals unusual behaviour.</a:t>
            </a:r>
            <a:endParaRPr lang="en-US" sz="980" dirty="0"/>
          </a:p>
        </p:txBody>
      </p:sp>
      <p:pic>
        <p:nvPicPr>
          <p:cNvPr id="5" name="Image 0" descr="/mnt/data/sparse_charts/cell_7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51325"/>
            <a:ext cx="7543800" cy="4530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75320" y="1417320"/>
            <a:ext cx="315468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0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2: best practical opportunity for campaign focus.</a:t>
            </a:r>
            <a:endParaRPr lang="en-US" sz="1080" dirty="0"/>
          </a:p>
          <a:p>
            <a:r>
              <a:rPr lang="en-US" sz="10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4: rare, high-converting, unusual behaviour - investigate before scaling.</a:t>
            </a:r>
            <a:endParaRPr lang="en-US" sz="1080" dirty="0"/>
          </a:p>
          <a:p>
            <a:r>
              <a:rPr lang="en-US" sz="10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3: largest common browsing group - improve journey and conversion nudges.</a:t>
            </a:r>
            <a:endParaRPr lang="en-US" sz="1080" dirty="0"/>
          </a:p>
          <a:p>
            <a:r>
              <a:rPr lang="en-US" sz="108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1: low conversion - use cautious retargeting or exclude from high-cost campaigns.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8275320" y="4919472"/>
            <a:ext cx="3154680" cy="731520"/>
          </a:xfrm>
          <a:prstGeom prst="roundRect">
            <a:avLst>
              <a:gd name="adj" fmla="val 10000"/>
            </a:avLst>
          </a:prstGeom>
          <a:solidFill>
            <a:srgbClr val="FFF4E7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39912" y="5029200"/>
            <a:ext cx="2825496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story: sparse features reveal both commercial opportunity and behavioural rarity.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actions by segment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model outputs into practical marketing decisions.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051560" cy="566928"/>
          </a:xfrm>
          <a:prstGeom prst="rect">
            <a:avLst/>
          </a:prstGeom>
          <a:solidFill>
            <a:srgbClr val="1F4E79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</a:t>
            </a:r>
            <a:endParaRPr lang="en-US" sz="870" dirty="0"/>
          </a:p>
        </p:txBody>
      </p:sp>
      <p:sp>
        <p:nvSpPr>
          <p:cNvPr id="7" name="Shape 5"/>
          <p:cNvSpPr/>
          <p:nvPr/>
        </p:nvSpPr>
        <p:spPr>
          <a:xfrm>
            <a:off x="1600200" y="1280160"/>
            <a:ext cx="1828800" cy="566928"/>
          </a:xfrm>
          <a:prstGeom prst="rect">
            <a:avLst/>
          </a:prstGeom>
          <a:solidFill>
            <a:srgbClr val="1F4E79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32588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signal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3429000" y="1280160"/>
            <a:ext cx="2743200" cy="566928"/>
          </a:xfrm>
          <a:prstGeom prst="rect">
            <a:avLst/>
          </a:prstGeom>
          <a:solidFill>
            <a:srgbClr val="1F4E79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3258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440680" cy="566928"/>
          </a:xfrm>
          <a:prstGeom prst="rect">
            <a:avLst/>
          </a:prstGeom>
          <a:solidFill>
            <a:srgbClr val="1F4E79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325880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548640" y="1847088"/>
            <a:ext cx="10515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892808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1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1600200" y="1847088"/>
            <a:ext cx="1828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8928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purchase rate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3429000" y="1847088"/>
            <a:ext cx="27432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8928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Low-intent sessions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6172200" y="1847088"/>
            <a:ext cx="5440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892808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high-cost targeting; test engagement improvement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48640" y="2414016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459736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2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1600200" y="2414016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245973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purchase + useful volume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3429000" y="2414016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45973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Strongest practical opportunity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6172200" y="2414016"/>
            <a:ext cx="5440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2459736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conversion campaigns and remarketing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48640" y="2980944"/>
            <a:ext cx="105156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026664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3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1600200" y="2980944"/>
            <a:ext cx="1828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302666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group, moderate conversion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3429000" y="2980944"/>
            <a:ext cx="27432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02666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browsing behaviour</a:t>
            </a:r>
            <a:endParaRPr lang="en-US" sz="830" dirty="0"/>
          </a:p>
        </p:txBody>
      </p:sp>
      <p:sp>
        <p:nvSpPr>
          <p:cNvPr id="35" name="Shape 33"/>
          <p:cNvSpPr/>
          <p:nvPr/>
        </p:nvSpPr>
        <p:spPr>
          <a:xfrm>
            <a:off x="6172200" y="2980944"/>
            <a:ext cx="544068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0" y="3026664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Optimise UX, product discovery and funnel nudges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48640" y="3547872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59359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 4</a:t>
            </a:r>
            <a:endParaRPr lang="en-US" sz="830" dirty="0"/>
          </a:p>
        </p:txBody>
      </p:sp>
      <p:sp>
        <p:nvSpPr>
          <p:cNvPr id="39" name="Shape 37"/>
          <p:cNvSpPr/>
          <p:nvPr/>
        </p:nvSpPr>
        <p:spPr>
          <a:xfrm>
            <a:off x="1600200" y="3547872"/>
            <a:ext cx="18288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0" y="359359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purchase + unusual</a:t>
            </a:r>
            <a:endParaRPr lang="en-US" sz="830" dirty="0"/>
          </a:p>
        </p:txBody>
      </p:sp>
      <p:sp>
        <p:nvSpPr>
          <p:cNvPr id="41" name="Shape 39"/>
          <p:cNvSpPr/>
          <p:nvPr/>
        </p:nvSpPr>
        <p:spPr>
          <a:xfrm>
            <a:off x="3429000" y="3547872"/>
            <a:ext cx="27432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0" y="359359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high-value pattern</a:t>
            </a:r>
            <a:endParaRPr lang="en-US" sz="830" dirty="0"/>
          </a:p>
        </p:txBody>
      </p:sp>
      <p:sp>
        <p:nvSpPr>
          <p:cNvPr id="43" name="Shape 41"/>
          <p:cNvSpPr/>
          <p:nvPr/>
        </p:nvSpPr>
        <p:spPr>
          <a:xfrm>
            <a:off x="6172200" y="3547872"/>
            <a:ext cx="54406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593592"/>
            <a:ext cx="5349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Investigate behaviour drivers before scaling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22960" y="4599432"/>
            <a:ext cx="10332720" cy="914400"/>
          </a:xfrm>
          <a:prstGeom prst="roundRect">
            <a:avLst>
              <a:gd name="adj" fmla="val 8000"/>
            </a:avLst>
          </a:prstGeom>
          <a:solidFill>
            <a:srgbClr val="EAF5EF"/>
          </a:solidFill>
          <a:ln w="10160">
            <a:solidFill>
              <a:srgbClr val="D5E0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4709160"/>
            <a:ext cx="10003536" cy="7132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B1F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Priority: use Segment 2 for near-term campaign action; profile Segment 4 deeply because it is rare, high-converting and harder to reconstruct.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81381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 and next steps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87782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autoencoders are useful when the goal is compact behaviour features, not pure reconstruction.</a:t>
            </a:r>
            <a:endParaRPr lang="en-US" sz="98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691640"/>
            <a:ext cx="48463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sparse autoencoder created hidden behaviour features that helped separate low-intent, common browsing, high-opportunity and rare high-value session patterns.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1722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199632" y="1664208"/>
            <a:ext cx="475488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each segment using original session columns.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stronger L1 values to increase sparsity.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bottleneck features in a purchase-prediction model.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segment performance over time in a BI dashboard.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reconstruction error for anomaly-style investigation.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3657600" cy="331470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114800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notebook proved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4343400" y="4069080"/>
            <a:ext cx="7132320" cy="331470"/>
          </a:xfrm>
          <a:prstGeom prst="rect">
            <a:avLst/>
          </a:prstGeom>
          <a:solidFill>
            <a:srgbClr val="0B1F33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4114800"/>
            <a:ext cx="7040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means for business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685800" y="4400550"/>
            <a:ext cx="3657600" cy="33147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446270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AE reconstructs better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4343400" y="4400550"/>
            <a:ext cx="7132320" cy="33147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4446270"/>
            <a:ext cx="7040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reconstruction accuracy matters most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85800" y="4732020"/>
            <a:ext cx="3657600" cy="33147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777740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AE creates lower bottleneck activity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343400" y="4732020"/>
            <a:ext cx="7132320" cy="331470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0" y="4777740"/>
            <a:ext cx="7040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when compact behaviour features are valuable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685800" y="5063490"/>
            <a:ext cx="3657600" cy="33147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09210"/>
            <a:ext cx="35661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 differ in purchase rate and error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4343400" y="5063490"/>
            <a:ext cx="7132320" cy="331470"/>
          </a:xfrm>
          <a:prstGeom prst="rect">
            <a:avLst/>
          </a:prstGeom>
          <a:solidFill>
            <a:srgbClr val="F7F9FC"/>
          </a:solidFill>
          <a:ln w="6350">
            <a:solidFill>
              <a:srgbClr val="DCE2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5109210"/>
            <a:ext cx="704088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111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segmentation, opportunity sizing and anomaly-style analysis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411480" y="6565392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Autoencoder - Online Shopping Behaviour Analysis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1475720" y="6528816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Sparse Autoencoder for Online Shopping Behaviour Analysis</dc:title>
  <dc:subject>Sparse Autoencoder BI Story</dc:subject>
  <dc:creator>OpenAI</dc:creator>
  <cp:lastModifiedBy>OpenAI</cp:lastModifiedBy>
  <cp:revision>1</cp:revision>
  <dcterms:created xsi:type="dcterms:W3CDTF">2026-06-07T01:42:34Z</dcterms:created>
  <dcterms:modified xsi:type="dcterms:W3CDTF">2026-06-07T01:42:34Z</dcterms:modified>
</cp:coreProperties>
</file>